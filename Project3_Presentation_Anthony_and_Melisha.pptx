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74" r:id="rId2"/>
    <p:sldId id="454" r:id="rId3"/>
    <p:sldId id="467" r:id="rId4"/>
    <p:sldId id="463" r:id="rId5"/>
    <p:sldId id="469" r:id="rId6"/>
    <p:sldId id="470" r:id="rId7"/>
    <p:sldId id="471" r:id="rId8"/>
    <p:sldId id="460" r:id="rId9"/>
    <p:sldId id="468" r:id="rId10"/>
    <p:sldId id="472" r:id="rId11"/>
    <p:sldId id="4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82EEFD"/>
    <a:srgbClr val="E4E7ED"/>
    <a:srgbClr val="FFFF00"/>
    <a:srgbClr val="FFFFFF"/>
    <a:srgbClr val="FEBC02"/>
    <a:srgbClr val="04F994"/>
    <a:srgbClr val="5A3507"/>
    <a:srgbClr val="E04747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4FFAB-AD52-4E5B-B377-FE7628CA9CC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AC29-4D1F-4874-94AB-ADB4CDAFF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13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AC29-4D1F-4874-94AB-ADB4CDAFFF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9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AC29-4D1F-4874-94AB-ADB4CDAFFF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8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3813-05C2-8147-3492-F8B33266F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C2D12-21AD-0225-6084-AA65B90D2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C93BD-3A5C-2B47-031D-BB263F36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BE4AE-8097-807C-5918-2C77A8A8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81843-6DDE-4CFF-2E43-A5CA1BB6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2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714E8-5B3E-A6C4-1909-A6E8F5011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C5D6E-F804-E000-B812-C48B8C28D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854FC-347C-9A59-04F5-D261A91D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98423-9955-71C3-F81B-7196C6C0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9DBD7-82DB-BD28-F553-0AA90EC3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6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8C11-FEB7-0D34-0165-A22FBF3E8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3B498-A010-B847-021B-399B45EF8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4373A-1D32-B5B8-E208-459D82DA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440F7-5A3B-22A2-1791-9A7FC0B6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0E69D-772F-6422-3F7E-80F618CE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7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AD7D-B0E1-5BE5-F713-E8CB60D8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A54A1-F65C-B462-8362-BCFC9AFB0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9650E-42F2-3A72-FEBC-A49CF36C5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5B949-DD36-FB22-197D-FCBEA8B2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874F7-5F22-CE6F-46E0-63EBB867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8AD09-DBA3-8AED-48E2-D1E20D39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0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B569-9395-380F-C139-1DBFB96E0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44D7B-577B-1556-F932-EDCA19F4B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CFB52-9F55-0FDC-39AF-BD601756B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CB11B-EEA0-A4CD-3317-C37785853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65BC7-8A26-88EB-ADEE-AEE7888781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0B5D9-131F-CE73-4136-1B66F04A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1BE353-B575-86CE-2236-D26CD6D96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1BB8F4-0CF9-1F2E-88B8-29D3CD0B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4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916C-0B8D-B4CC-B8D8-99FCE822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4FBA8-186A-1878-E80D-1F2632169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880F1-08F3-327A-A375-4B0CAD2B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789DE-77C5-517E-B9FC-C40C5006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0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214CA4-E40A-C457-E604-D0B240C5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EFDC4-1548-5223-1F9A-94AE9855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50087-7E9F-2635-A1A5-8C6E89CF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7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643-1D85-9289-18AA-503434E7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8A6E0-88AD-0333-EBA5-83BE07B61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7D870-219D-3DAA-402A-C448C4ABE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53C67-0FA9-4DE4-5C23-384F2E00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AFA4C-2ABD-61D1-E8F7-B63FBB92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6C3BD-C16B-5A10-7D17-8AA336BA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81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7B29-09D0-46B3-683E-61A2E7CEF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3D4D80-C043-B808-9FC0-0531DB2187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BDD73-5DA5-B834-9A4E-C721C4127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4267F-0146-0C6A-97DB-9D12BDD7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B69AA-6023-C9A5-EF0E-A7CE7AC6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AED23-C81B-5C8B-9E91-46ADD236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E335-4D12-6077-B30C-619BFE5E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D18FC-6A3A-9911-87C6-01BF0DCDC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0F02A-E822-5B0A-1DA7-CB5AD920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30100-E2F2-EAAD-6C83-BBDB7F8C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E34E8-7CB3-2498-ECCF-EB99A2E7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6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DA162-1F41-1F73-0178-91D74660E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85687-3B4C-ADB6-5BBD-885A464A1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C3760-EF00-6FEA-CFB3-E2E990E97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32EDD-2E17-B06F-ACFC-F19E013E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C84DE-AA99-6F75-ADAD-09B7CAFC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5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7C93AD-E944-A165-86BB-BF9F70397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2083A-2BF1-FCDC-B209-749ACBE51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F5633-F23D-5BA0-EC7E-DF8827853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4A639-5BB1-4352-B4FE-9B40DAA4A55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5D6E-FB42-9BAB-DD53-8CCC8D65C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6565E-AF2C-E45B-4DDD-ED6840454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4A8FA-0DF5-4C1C-807F-99A2E6619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7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B4329D-1054-AA88-F363-EA7D1FD7D4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Mini Project 3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9B88EEA-7B59-51F7-50E6-917CE1F49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Anthony Mitchell &amp; Melisha Basnet</a:t>
            </a:r>
          </a:p>
        </p:txBody>
      </p:sp>
    </p:spTree>
    <p:extLst>
      <p:ext uri="{BB962C8B-B14F-4D97-AF65-F5344CB8AC3E}">
        <p14:creationId xmlns:p14="http://schemas.microsoft.com/office/powerpoint/2010/main" val="361378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01E9B-89F4-C7C3-3944-433D463F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Colors After Need Finding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0A55D1-BB30-545B-6C09-AFCD1AE61519}"/>
              </a:ext>
            </a:extLst>
          </p:cNvPr>
          <p:cNvSpPr/>
          <p:nvPr/>
        </p:nvSpPr>
        <p:spPr>
          <a:xfrm>
            <a:off x="741060" y="2156867"/>
            <a:ext cx="1371600" cy="1371600"/>
          </a:xfrm>
          <a:prstGeom prst="rect">
            <a:avLst/>
          </a:prstGeom>
          <a:solidFill>
            <a:srgbClr val="ED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AAE80-8DA0-5FBC-C9FD-95163740D31E}"/>
              </a:ext>
            </a:extLst>
          </p:cNvPr>
          <p:cNvSpPr/>
          <p:nvPr/>
        </p:nvSpPr>
        <p:spPr>
          <a:xfrm>
            <a:off x="2297440" y="2156867"/>
            <a:ext cx="1371600" cy="1371600"/>
          </a:xfrm>
          <a:prstGeom prst="rect">
            <a:avLst/>
          </a:prstGeom>
          <a:solidFill>
            <a:srgbClr val="D468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1F811F-F2AA-C69C-556F-716297F092BD}"/>
              </a:ext>
            </a:extLst>
          </p:cNvPr>
          <p:cNvSpPr/>
          <p:nvPr/>
        </p:nvSpPr>
        <p:spPr>
          <a:xfrm>
            <a:off x="3853820" y="2156867"/>
            <a:ext cx="1371600" cy="13716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864106-7C42-BDE8-36AA-60F64E0A35E1}"/>
              </a:ext>
            </a:extLst>
          </p:cNvPr>
          <p:cNvSpPr/>
          <p:nvPr/>
        </p:nvSpPr>
        <p:spPr>
          <a:xfrm>
            <a:off x="5410200" y="2156867"/>
            <a:ext cx="1371600" cy="1371600"/>
          </a:xfrm>
          <a:prstGeom prst="rect">
            <a:avLst/>
          </a:prstGeom>
          <a:solidFill>
            <a:srgbClr val="FEBC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288A8-0EFE-7D7F-1690-1EC28D6EE479}"/>
              </a:ext>
            </a:extLst>
          </p:cNvPr>
          <p:cNvSpPr/>
          <p:nvPr/>
        </p:nvSpPr>
        <p:spPr>
          <a:xfrm>
            <a:off x="6966580" y="2156867"/>
            <a:ext cx="1371600" cy="137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A6FE12-A069-7B4A-36C6-7DDB7AA4311F}"/>
              </a:ext>
            </a:extLst>
          </p:cNvPr>
          <p:cNvSpPr/>
          <p:nvPr/>
        </p:nvSpPr>
        <p:spPr>
          <a:xfrm>
            <a:off x="8522960" y="2156867"/>
            <a:ext cx="1371600" cy="1371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420F2D-7BC3-20C9-BDAC-B71BAFCDA17A}"/>
              </a:ext>
            </a:extLst>
          </p:cNvPr>
          <p:cNvSpPr/>
          <p:nvPr/>
        </p:nvSpPr>
        <p:spPr>
          <a:xfrm>
            <a:off x="10079340" y="2156867"/>
            <a:ext cx="1371600" cy="13716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574E53B-B9D2-086E-72B7-33E3398E1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7547"/>
            <a:ext cx="10515600" cy="21494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Colors and hex values from left to right:</a:t>
            </a:r>
          </a:p>
          <a:p>
            <a:pPr marL="0" indent="0">
              <a:buNone/>
            </a:pPr>
            <a:r>
              <a:rPr lang="en-US" dirty="0"/>
              <a:t>Red (</a:t>
            </a:r>
            <a:r>
              <a:rPr lang="en-US" b="1" dirty="0"/>
              <a:t>ED1E24</a:t>
            </a:r>
            <a:r>
              <a:rPr lang="en-US" dirty="0"/>
              <a:t>), Brown (</a:t>
            </a:r>
            <a:r>
              <a:rPr lang="en-US" b="1" dirty="0"/>
              <a:t>D4681B</a:t>
            </a:r>
            <a:r>
              <a:rPr lang="en-US" dirty="0"/>
              <a:t>), Green (</a:t>
            </a:r>
            <a:r>
              <a:rPr lang="en-US" b="1" dirty="0"/>
              <a:t>92D050</a:t>
            </a:r>
            <a:r>
              <a:rPr lang="en-US" dirty="0"/>
              <a:t>), Orange (</a:t>
            </a:r>
            <a:r>
              <a:rPr lang="en-US" b="1" dirty="0"/>
              <a:t>FEBC02</a:t>
            </a:r>
            <a:r>
              <a:rPr lang="en-US" dirty="0"/>
              <a:t>), Yellow (</a:t>
            </a:r>
            <a:r>
              <a:rPr lang="en-US" b="1" dirty="0"/>
              <a:t>FFFF00</a:t>
            </a:r>
            <a:r>
              <a:rPr lang="en-US" dirty="0"/>
              <a:t>), Blue (</a:t>
            </a:r>
            <a:r>
              <a:rPr lang="en-US" b="1" dirty="0"/>
              <a:t>00B0F0</a:t>
            </a:r>
            <a:r>
              <a:rPr lang="en-US" dirty="0"/>
              <a:t>), Purple (</a:t>
            </a:r>
            <a:r>
              <a:rPr lang="en-US" b="1" dirty="0"/>
              <a:t>7030A0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8794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01E9B-89F4-C7C3-3944-433D463F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Colors After Need Finding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0A55D1-BB30-545B-6C09-AFCD1AE61519}"/>
              </a:ext>
            </a:extLst>
          </p:cNvPr>
          <p:cNvSpPr/>
          <p:nvPr/>
        </p:nvSpPr>
        <p:spPr>
          <a:xfrm>
            <a:off x="741060" y="2156867"/>
            <a:ext cx="1371600" cy="1371600"/>
          </a:xfrm>
          <a:prstGeom prst="rect">
            <a:avLst/>
          </a:prstGeom>
          <a:solidFill>
            <a:srgbClr val="E04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AAE80-8DA0-5FBC-C9FD-95163740D31E}"/>
              </a:ext>
            </a:extLst>
          </p:cNvPr>
          <p:cNvSpPr/>
          <p:nvPr/>
        </p:nvSpPr>
        <p:spPr>
          <a:xfrm>
            <a:off x="2297440" y="2156867"/>
            <a:ext cx="1371600" cy="1371600"/>
          </a:xfrm>
          <a:prstGeom prst="rect">
            <a:avLst/>
          </a:prstGeom>
          <a:solidFill>
            <a:srgbClr val="5A35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1F811F-F2AA-C69C-556F-716297F092BD}"/>
              </a:ext>
            </a:extLst>
          </p:cNvPr>
          <p:cNvSpPr/>
          <p:nvPr/>
        </p:nvSpPr>
        <p:spPr>
          <a:xfrm>
            <a:off x="3853820" y="2156867"/>
            <a:ext cx="1371600" cy="1371600"/>
          </a:xfrm>
          <a:prstGeom prst="rect">
            <a:avLst/>
          </a:prstGeom>
          <a:solidFill>
            <a:srgbClr val="04F9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864106-7C42-BDE8-36AA-60F64E0A35E1}"/>
              </a:ext>
            </a:extLst>
          </p:cNvPr>
          <p:cNvSpPr/>
          <p:nvPr/>
        </p:nvSpPr>
        <p:spPr>
          <a:xfrm>
            <a:off x="5410200" y="2156867"/>
            <a:ext cx="1371600" cy="1371600"/>
          </a:xfrm>
          <a:prstGeom prst="rect">
            <a:avLst/>
          </a:prstGeom>
          <a:solidFill>
            <a:srgbClr val="FEBC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288A8-0EFE-7D7F-1690-1EC28D6EE479}"/>
              </a:ext>
            </a:extLst>
          </p:cNvPr>
          <p:cNvSpPr/>
          <p:nvPr/>
        </p:nvSpPr>
        <p:spPr>
          <a:xfrm>
            <a:off x="6966580" y="2156867"/>
            <a:ext cx="1371600" cy="137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A6FE12-A069-7B4A-36C6-7DDB7AA4311F}"/>
              </a:ext>
            </a:extLst>
          </p:cNvPr>
          <p:cNvSpPr/>
          <p:nvPr/>
        </p:nvSpPr>
        <p:spPr>
          <a:xfrm>
            <a:off x="8522960" y="2156867"/>
            <a:ext cx="1371600" cy="1371600"/>
          </a:xfrm>
          <a:prstGeom prst="rect">
            <a:avLst/>
          </a:prstGeom>
          <a:solidFill>
            <a:srgbClr val="82E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420F2D-7BC3-20C9-BDAC-B71BAFCDA17A}"/>
              </a:ext>
            </a:extLst>
          </p:cNvPr>
          <p:cNvSpPr/>
          <p:nvPr/>
        </p:nvSpPr>
        <p:spPr>
          <a:xfrm>
            <a:off x="10079340" y="2156867"/>
            <a:ext cx="1371600" cy="13716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574E53B-B9D2-086E-72B7-33E3398E1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7547"/>
            <a:ext cx="10515600" cy="214941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Colors and hex values from left to right:</a:t>
            </a:r>
          </a:p>
          <a:p>
            <a:pPr marL="0" indent="0">
              <a:buNone/>
            </a:pPr>
            <a:r>
              <a:rPr lang="en-US" dirty="0"/>
              <a:t>Red (</a:t>
            </a:r>
            <a:r>
              <a:rPr lang="en-US" b="1" dirty="0"/>
              <a:t>E04747</a:t>
            </a:r>
            <a:r>
              <a:rPr lang="en-US" dirty="0"/>
              <a:t>), Brown (</a:t>
            </a:r>
            <a:r>
              <a:rPr lang="en-US" b="1" dirty="0"/>
              <a:t>5A3507</a:t>
            </a:r>
            <a:r>
              <a:rPr lang="en-US" dirty="0"/>
              <a:t>), Green (</a:t>
            </a:r>
            <a:r>
              <a:rPr lang="en-US" b="1" dirty="0"/>
              <a:t>04F994</a:t>
            </a:r>
            <a:r>
              <a:rPr lang="en-US" dirty="0"/>
              <a:t>), Orange (</a:t>
            </a:r>
            <a:r>
              <a:rPr lang="en-US" b="1" dirty="0"/>
              <a:t>FEBC02</a:t>
            </a:r>
            <a:r>
              <a:rPr lang="en-US" dirty="0"/>
              <a:t>), Yellow (</a:t>
            </a:r>
            <a:r>
              <a:rPr lang="en-US" b="1" dirty="0"/>
              <a:t>FFFF00</a:t>
            </a:r>
            <a:r>
              <a:rPr lang="en-US" dirty="0"/>
              <a:t>), Blue (</a:t>
            </a:r>
            <a:r>
              <a:rPr lang="en-US" b="1" dirty="0"/>
              <a:t>82EEFD</a:t>
            </a:r>
            <a:r>
              <a:rPr lang="en-US" dirty="0"/>
              <a:t>), Purple (</a:t>
            </a:r>
            <a:r>
              <a:rPr lang="en-US" b="1" dirty="0"/>
              <a:t>7030A0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059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0C31-FAED-7A74-5510-113F1EB4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DB77-3736-F7DB-195E-E52FAD5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Results: After Need Finding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45F24-AA7E-C27A-87FD-6AAD49AFB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256650"/>
              </p:ext>
            </p:extLst>
          </p:nvPr>
        </p:nvGraphicFramePr>
        <p:xfrm>
          <a:off x="1946592" y="1950720"/>
          <a:ext cx="8298816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92">
                  <a:extLst>
                    <a:ext uri="{9D8B030D-6E8A-4147-A177-3AD203B41FA5}">
                      <a16:colId xmlns:a16="http://schemas.microsoft.com/office/drawing/2014/main" val="154146022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812231523"/>
                    </a:ext>
                  </a:extLst>
                </a:gridCol>
                <a:gridCol w="3122168">
                  <a:extLst>
                    <a:ext uri="{9D8B030D-6E8A-4147-A177-3AD203B41FA5}">
                      <a16:colId xmlns:a16="http://schemas.microsoft.com/office/drawing/2014/main" val="1316578191"/>
                    </a:ext>
                  </a:extLst>
                </a:gridCol>
                <a:gridCol w="2665413">
                  <a:extLst>
                    <a:ext uri="{9D8B030D-6E8A-4147-A177-3AD203B41FA5}">
                      <a16:colId xmlns:a16="http://schemas.microsoft.com/office/drawing/2014/main" val="2816473777"/>
                    </a:ext>
                  </a:extLst>
                </a:gridCol>
              </a:tblGrid>
              <a:tr h="337430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(Mean +/- Std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0.557 +/- 0.499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1.41 +/- 0.38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Natasha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0.993 +/- 0.085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1.14 +/- 0.28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92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Ashutosh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0.424 +/- 0.502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3.86 +/- 3.30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882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6BECF9-D12B-2BB4-FA82-4BE0D96D1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248519"/>
              </p:ext>
            </p:extLst>
          </p:nvPr>
        </p:nvGraphicFramePr>
        <p:xfrm>
          <a:off x="1946592" y="4301868"/>
          <a:ext cx="8298816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92">
                  <a:extLst>
                    <a:ext uri="{9D8B030D-6E8A-4147-A177-3AD203B41FA5}">
                      <a16:colId xmlns:a16="http://schemas.microsoft.com/office/drawing/2014/main" val="154146022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812231523"/>
                    </a:ext>
                  </a:extLst>
                </a:gridCol>
                <a:gridCol w="3122168">
                  <a:extLst>
                    <a:ext uri="{9D8B030D-6E8A-4147-A177-3AD203B41FA5}">
                      <a16:colId xmlns:a16="http://schemas.microsoft.com/office/drawing/2014/main" val="1316578191"/>
                    </a:ext>
                  </a:extLst>
                </a:gridCol>
                <a:gridCol w="2665413">
                  <a:extLst>
                    <a:ext uri="{9D8B030D-6E8A-4147-A177-3AD203B41FA5}">
                      <a16:colId xmlns:a16="http://schemas.microsoft.com/office/drawing/2014/main" val="2816473777"/>
                    </a:ext>
                  </a:extLst>
                </a:gridCol>
              </a:tblGrid>
              <a:tr h="337430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(Mean +/- Std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0.750 +/- 0.435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1.66 +/- 1.47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Natasha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0.993 +/- 0.085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1.26 +/- 0.74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92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Ashutosh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0.743 +/- 0.443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4.44 +/- 3.70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8826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79C9F4-91FB-5D6A-FBF5-3FD9E1842EFD}"/>
              </a:ext>
            </a:extLst>
          </p:cNvPr>
          <p:cNvSpPr txBox="1"/>
          <p:nvPr/>
        </p:nvSpPr>
        <p:spPr>
          <a:xfrm>
            <a:off x="1946592" y="1506022"/>
            <a:ext cx="175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Original Colors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CE5716-C641-5AD5-3B48-E8BECCA991FC}"/>
              </a:ext>
            </a:extLst>
          </p:cNvPr>
          <p:cNvSpPr txBox="1"/>
          <p:nvPr/>
        </p:nvSpPr>
        <p:spPr>
          <a:xfrm>
            <a:off x="1946591" y="3864150"/>
            <a:ext cx="2471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Need Finding 1 Colors</a:t>
            </a:r>
          </a:p>
        </p:txBody>
      </p:sp>
    </p:spTree>
    <p:extLst>
      <p:ext uri="{BB962C8B-B14F-4D97-AF65-F5344CB8AC3E}">
        <p14:creationId xmlns:p14="http://schemas.microsoft.com/office/powerpoint/2010/main" val="3402002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0C31-FAED-7A74-5510-113F1EB4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DB77-3736-F7DB-195E-E52FAD5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Color Results: After Need Finding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45F24-AA7E-C27A-87FD-6AAD49AFB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436101"/>
              </p:ext>
            </p:extLst>
          </p:nvPr>
        </p:nvGraphicFramePr>
        <p:xfrm>
          <a:off x="145668" y="2129355"/>
          <a:ext cx="11900663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92">
                  <a:extLst>
                    <a:ext uri="{9D8B030D-6E8A-4147-A177-3AD203B41FA5}">
                      <a16:colId xmlns:a16="http://schemas.microsoft.com/office/drawing/2014/main" val="154146022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812231523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1316578191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2816473777"/>
                    </a:ext>
                  </a:extLst>
                </a:gridCol>
                <a:gridCol w="2811717">
                  <a:extLst>
                    <a:ext uri="{9D8B030D-6E8A-4147-A177-3AD203B41FA5}">
                      <a16:colId xmlns:a16="http://schemas.microsoft.com/office/drawing/2014/main" val="1622775679"/>
                    </a:ext>
                  </a:extLst>
                </a:gridCol>
                <a:gridCol w="2354961">
                  <a:extLst>
                    <a:ext uri="{9D8B030D-6E8A-4147-A177-3AD203B41FA5}">
                      <a16:colId xmlns:a16="http://schemas.microsoft.com/office/drawing/2014/main" val="487478817"/>
                    </a:ext>
                  </a:extLst>
                </a:gridCol>
              </a:tblGrid>
              <a:tr h="194104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Accuracy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Time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1 Accuracy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1 Time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0.550 +/- 0.510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1.47 +/- 0.39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0.550 +/- 0.510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1.474 +/- 0.372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0.350 +/- 0.489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1.38 +/- 0.39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0.550 +/- 0.510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1.486 +/- 0.321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92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0.650 +/- 0.489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1.41 +/- 0.45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0.550 +/- 0.510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1.725 +/- 0.695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88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0.400 +/- 0.503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1.47 +/- 0.37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0.600 +/- 0.503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2.444 +/- 3.585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7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1.17 +/- 0.23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1.669 +/- 0.854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54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0.550 +/- 0.510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1.45 +/- 0.19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1.388 +/- 0.655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82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0.400 +/- 0.503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1.53 +/- 0.52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1.424 +/- 0.334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26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A6A9E36-1E3F-BD7F-1998-4BF786F2FF2E}"/>
              </a:ext>
            </a:extLst>
          </p:cNvPr>
          <p:cNvSpPr txBox="1"/>
          <p:nvPr/>
        </p:nvSpPr>
        <p:spPr>
          <a:xfrm>
            <a:off x="145668" y="169068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Sean</a:t>
            </a:r>
          </a:p>
        </p:txBody>
      </p:sp>
    </p:spTree>
    <p:extLst>
      <p:ext uri="{BB962C8B-B14F-4D97-AF65-F5344CB8AC3E}">
        <p14:creationId xmlns:p14="http://schemas.microsoft.com/office/powerpoint/2010/main" val="313229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0C31-FAED-7A74-5510-113F1EB4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DB77-3736-F7DB-195E-E52FAD5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Color Results: After Need Finding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45F24-AA7E-C27A-87FD-6AAD49AFB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332169"/>
              </p:ext>
            </p:extLst>
          </p:nvPr>
        </p:nvGraphicFramePr>
        <p:xfrm>
          <a:off x="145668" y="2129355"/>
          <a:ext cx="11900663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92">
                  <a:extLst>
                    <a:ext uri="{9D8B030D-6E8A-4147-A177-3AD203B41FA5}">
                      <a16:colId xmlns:a16="http://schemas.microsoft.com/office/drawing/2014/main" val="154146022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812231523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1316578191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2816473777"/>
                    </a:ext>
                  </a:extLst>
                </a:gridCol>
                <a:gridCol w="2811717">
                  <a:extLst>
                    <a:ext uri="{9D8B030D-6E8A-4147-A177-3AD203B41FA5}">
                      <a16:colId xmlns:a16="http://schemas.microsoft.com/office/drawing/2014/main" val="1622775679"/>
                    </a:ext>
                  </a:extLst>
                </a:gridCol>
                <a:gridCol w="2354961">
                  <a:extLst>
                    <a:ext uri="{9D8B030D-6E8A-4147-A177-3AD203B41FA5}">
                      <a16:colId xmlns:a16="http://schemas.microsoft.com/office/drawing/2014/main" val="487478817"/>
                    </a:ext>
                  </a:extLst>
                </a:gridCol>
              </a:tblGrid>
              <a:tr h="194104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Accuracy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Time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1 Accuracy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1 Time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1.20 +/- 0.64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1.227 +/- 0.587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0.950 +/- 0.224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1.16 +/- 0.15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1.155 +/- 0.201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92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1.18 +/- 0.17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1.226 +/- 0.400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88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1.14 +/- 0.17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0.950 +/- 0.224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1.321 +/- 0.303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7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1.05 +/- 0.13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1.187 +/- 0.258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76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1.12 +/- 0.18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1.521 +/- 1.759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82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1.15 +/- 0.18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1.190 +/- 0.236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26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A6A9E36-1E3F-BD7F-1998-4BF786F2FF2E}"/>
              </a:ext>
            </a:extLst>
          </p:cNvPr>
          <p:cNvSpPr txBox="1"/>
          <p:nvPr/>
        </p:nvSpPr>
        <p:spPr>
          <a:xfrm>
            <a:off x="145668" y="1690688"/>
            <a:ext cx="1062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Natasha</a:t>
            </a:r>
          </a:p>
        </p:txBody>
      </p:sp>
    </p:spTree>
    <p:extLst>
      <p:ext uri="{BB962C8B-B14F-4D97-AF65-F5344CB8AC3E}">
        <p14:creationId xmlns:p14="http://schemas.microsoft.com/office/powerpoint/2010/main" val="133501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0C31-FAED-7A74-5510-113F1EB4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DB77-3736-F7DB-195E-E52FAD5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Color Results: After Need Finding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45F24-AA7E-C27A-87FD-6AAD49AFB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292506"/>
              </p:ext>
            </p:extLst>
          </p:nvPr>
        </p:nvGraphicFramePr>
        <p:xfrm>
          <a:off x="145668" y="2129355"/>
          <a:ext cx="11900663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92">
                  <a:extLst>
                    <a:ext uri="{9D8B030D-6E8A-4147-A177-3AD203B41FA5}">
                      <a16:colId xmlns:a16="http://schemas.microsoft.com/office/drawing/2014/main" val="154146022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812231523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1316578191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2816473777"/>
                    </a:ext>
                  </a:extLst>
                </a:gridCol>
                <a:gridCol w="2811717">
                  <a:extLst>
                    <a:ext uri="{9D8B030D-6E8A-4147-A177-3AD203B41FA5}">
                      <a16:colId xmlns:a16="http://schemas.microsoft.com/office/drawing/2014/main" val="1622775679"/>
                    </a:ext>
                  </a:extLst>
                </a:gridCol>
                <a:gridCol w="2354961">
                  <a:extLst>
                    <a:ext uri="{9D8B030D-6E8A-4147-A177-3AD203B41FA5}">
                      <a16:colId xmlns:a16="http://schemas.microsoft.com/office/drawing/2014/main" val="487478817"/>
                    </a:ext>
                  </a:extLst>
                </a:gridCol>
              </a:tblGrid>
              <a:tr h="194104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Accuracy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Time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1 Accuracy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1 Time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0.250 +/- 0.463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3.47 +/- 2.27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2.279 +/- 0.804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11.39 +/- 6.26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0.750 +/- 0.500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9.124 +/- 4.600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92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3.23 +/- 2.34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2.435 +/- 0.666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88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0.500 +/- 0.577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3.88 +/- 2.07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4.748 +/- 3.704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7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2.39 +/- 0.68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0.833 +/- 0.408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3.064 +/- 1.310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65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2.76 +/- 0.66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8.260 +/- 5.600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82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2.92 +/- 1.68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2.563 +/- 0.543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26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A6A9E36-1E3F-BD7F-1998-4BF786F2FF2E}"/>
              </a:ext>
            </a:extLst>
          </p:cNvPr>
          <p:cNvSpPr txBox="1"/>
          <p:nvPr/>
        </p:nvSpPr>
        <p:spPr>
          <a:xfrm>
            <a:off x="145668" y="1690688"/>
            <a:ext cx="1181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Ashutosh</a:t>
            </a:r>
          </a:p>
        </p:txBody>
      </p:sp>
    </p:spTree>
    <p:extLst>
      <p:ext uri="{BB962C8B-B14F-4D97-AF65-F5344CB8AC3E}">
        <p14:creationId xmlns:p14="http://schemas.microsoft.com/office/powerpoint/2010/main" val="379155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221E6-F095-FD15-D086-00D2CBE7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6D0A-7A0E-4EF3-E806-F8817782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Finding 1 Colors: Statistical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72255A-AB62-1302-96D4-D4AECDF2C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Perform Only For Overall Results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 Used: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Hypothesis Tested: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Reject or Fail to Reject Null Hypothesis: </a:t>
            </a:r>
          </a:p>
        </p:txBody>
      </p:sp>
    </p:spTree>
    <p:extLst>
      <p:ext uri="{BB962C8B-B14F-4D97-AF65-F5344CB8AC3E}">
        <p14:creationId xmlns:p14="http://schemas.microsoft.com/office/powerpoint/2010/main" val="322559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0C31-FAED-7A74-5510-113F1EB4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DB77-3736-F7DB-195E-E52FAD5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Results: After Need Finding 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45F24-AA7E-C27A-87FD-6AAD49AFB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737475"/>
              </p:ext>
            </p:extLst>
          </p:nvPr>
        </p:nvGraphicFramePr>
        <p:xfrm>
          <a:off x="1946592" y="1950720"/>
          <a:ext cx="829881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92">
                  <a:extLst>
                    <a:ext uri="{9D8B030D-6E8A-4147-A177-3AD203B41FA5}">
                      <a16:colId xmlns:a16="http://schemas.microsoft.com/office/drawing/2014/main" val="154146022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812231523"/>
                    </a:ext>
                  </a:extLst>
                </a:gridCol>
                <a:gridCol w="3122168">
                  <a:extLst>
                    <a:ext uri="{9D8B030D-6E8A-4147-A177-3AD203B41FA5}">
                      <a16:colId xmlns:a16="http://schemas.microsoft.com/office/drawing/2014/main" val="1316578191"/>
                    </a:ext>
                  </a:extLst>
                </a:gridCol>
                <a:gridCol w="2665413">
                  <a:extLst>
                    <a:ext uri="{9D8B030D-6E8A-4147-A177-3AD203B41FA5}">
                      <a16:colId xmlns:a16="http://schemas.microsoft.com/office/drawing/2014/main" val="2816473777"/>
                    </a:ext>
                  </a:extLst>
                </a:gridCol>
              </a:tblGrid>
              <a:tr h="337430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(Mean +/- Std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0.857 +/- 0.356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1.57 +/- 0.52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0211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6BECF9-D12B-2BB4-FA82-4BE0D96D1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820887"/>
              </p:ext>
            </p:extLst>
          </p:nvPr>
        </p:nvGraphicFramePr>
        <p:xfrm>
          <a:off x="1946592" y="4301868"/>
          <a:ext cx="829881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92">
                  <a:extLst>
                    <a:ext uri="{9D8B030D-6E8A-4147-A177-3AD203B41FA5}">
                      <a16:colId xmlns:a16="http://schemas.microsoft.com/office/drawing/2014/main" val="154146022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812231523"/>
                    </a:ext>
                  </a:extLst>
                </a:gridCol>
                <a:gridCol w="3122168">
                  <a:extLst>
                    <a:ext uri="{9D8B030D-6E8A-4147-A177-3AD203B41FA5}">
                      <a16:colId xmlns:a16="http://schemas.microsoft.com/office/drawing/2014/main" val="1316578191"/>
                    </a:ext>
                  </a:extLst>
                </a:gridCol>
                <a:gridCol w="2665413">
                  <a:extLst>
                    <a:ext uri="{9D8B030D-6E8A-4147-A177-3AD203B41FA5}">
                      <a16:colId xmlns:a16="http://schemas.microsoft.com/office/drawing/2014/main" val="2816473777"/>
                    </a:ext>
                  </a:extLst>
                </a:gridCol>
              </a:tblGrid>
              <a:tr h="337430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(Mean +/- Std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0.964 +/- 0.186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1.57 +/- 0.43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021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79C9F4-91FB-5D6A-FBF5-3FD9E1842EFD}"/>
              </a:ext>
            </a:extLst>
          </p:cNvPr>
          <p:cNvSpPr txBox="1"/>
          <p:nvPr/>
        </p:nvSpPr>
        <p:spPr>
          <a:xfrm>
            <a:off x="1946592" y="1506022"/>
            <a:ext cx="2471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Need Finding 1 Colors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CE5716-C641-5AD5-3B48-E8BECCA991FC}"/>
              </a:ext>
            </a:extLst>
          </p:cNvPr>
          <p:cNvSpPr txBox="1"/>
          <p:nvPr/>
        </p:nvSpPr>
        <p:spPr>
          <a:xfrm>
            <a:off x="1946591" y="3864150"/>
            <a:ext cx="2471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Need Finding 2 Colors</a:t>
            </a:r>
          </a:p>
        </p:txBody>
      </p:sp>
    </p:spTree>
    <p:extLst>
      <p:ext uri="{BB962C8B-B14F-4D97-AF65-F5344CB8AC3E}">
        <p14:creationId xmlns:p14="http://schemas.microsoft.com/office/powerpoint/2010/main" val="1338807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0C31-FAED-7A74-5510-113F1EB4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DB77-3736-F7DB-195E-E52FAD54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Color Results: After Need Finding 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45F24-AA7E-C27A-87FD-6AAD49AFB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67036"/>
              </p:ext>
            </p:extLst>
          </p:nvPr>
        </p:nvGraphicFramePr>
        <p:xfrm>
          <a:off x="145668" y="2129355"/>
          <a:ext cx="11900663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92">
                  <a:extLst>
                    <a:ext uri="{9D8B030D-6E8A-4147-A177-3AD203B41FA5}">
                      <a16:colId xmlns:a16="http://schemas.microsoft.com/office/drawing/2014/main" val="154146022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1812231523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1316578191"/>
                    </a:ext>
                  </a:extLst>
                </a:gridCol>
                <a:gridCol w="2111375">
                  <a:extLst>
                    <a:ext uri="{9D8B030D-6E8A-4147-A177-3AD203B41FA5}">
                      <a16:colId xmlns:a16="http://schemas.microsoft.com/office/drawing/2014/main" val="2816473777"/>
                    </a:ext>
                  </a:extLst>
                </a:gridCol>
                <a:gridCol w="2811717">
                  <a:extLst>
                    <a:ext uri="{9D8B030D-6E8A-4147-A177-3AD203B41FA5}">
                      <a16:colId xmlns:a16="http://schemas.microsoft.com/office/drawing/2014/main" val="1622775679"/>
                    </a:ext>
                  </a:extLst>
                </a:gridCol>
                <a:gridCol w="2354961">
                  <a:extLst>
                    <a:ext uri="{9D8B030D-6E8A-4147-A177-3AD203B41FA5}">
                      <a16:colId xmlns:a16="http://schemas.microsoft.com/office/drawing/2014/main" val="487478817"/>
                    </a:ext>
                  </a:extLst>
                </a:gridCol>
              </a:tblGrid>
              <a:tr h="194104">
                <a:tc>
                  <a:txBody>
                    <a:bodyPr/>
                    <a:lstStyle/>
                    <a:p>
                      <a:r>
                        <a:rPr lang="en-US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1 Accuracy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1 Time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2 Accuracy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Finding 2 Time </a:t>
                      </a:r>
                      <a:br>
                        <a:rPr lang="en-US" dirty="0"/>
                      </a:br>
                      <a:r>
                        <a:rPr lang="en-US" dirty="0"/>
                        <a:t>(Mean +/- Std Dev)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6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1.46 +/- 0.38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1.927 +/- 0.364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02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0.500 +/- 0.577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2.12 +/- 0.55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0.917 +/- 0.282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1.627 +/- 0.336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92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0.750 +/- 0.500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1.51 +/- 0.38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0.875 +/- 0.338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1.801 +/- 0.506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288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0.750 +/- 0.500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1.55 +/- 0.30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0.958 +/- 0.204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1.552 +/- 0.363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27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1.12 +/- 0.04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1.223 +/- 0.355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773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1.67 +/- 0.99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1.366 +/- 0.364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82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1.55 +/- 0.29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1.000 +/- 0.000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1.500 +/- 0.331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26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A6A9E36-1E3F-BD7F-1998-4BF786F2FF2E}"/>
              </a:ext>
            </a:extLst>
          </p:cNvPr>
          <p:cNvSpPr txBox="1"/>
          <p:nvPr/>
        </p:nvSpPr>
        <p:spPr>
          <a:xfrm>
            <a:off x="145668" y="169068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Sean</a:t>
            </a:r>
          </a:p>
        </p:txBody>
      </p:sp>
    </p:spTree>
    <p:extLst>
      <p:ext uri="{BB962C8B-B14F-4D97-AF65-F5344CB8AC3E}">
        <p14:creationId xmlns:p14="http://schemas.microsoft.com/office/powerpoint/2010/main" val="449247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221E6-F095-FD15-D086-00D2CBE7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6D0A-7A0E-4EF3-E806-F8817782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Finding 2 Colors: Statistical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72255A-AB62-1302-96D4-D4AECDF2C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Perform Only For Overall Results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 Used: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Hypothesis Tested: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Reject or Fail to Reject Null Hypothesis: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1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906</Words>
  <Application>Microsoft Office PowerPoint</Application>
  <PresentationFormat>Widescreen</PresentationFormat>
  <Paragraphs>280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Mini Project 3</vt:lpstr>
      <vt:lpstr>New Colors After Need Finding 1</vt:lpstr>
      <vt:lpstr>New Colors After Need Finding 2</vt:lpstr>
      <vt:lpstr>Overall Results: After Need Finding 1</vt:lpstr>
      <vt:lpstr>By Color Results: After Need Finding 1</vt:lpstr>
      <vt:lpstr>By Color Results: After Need Finding 1</vt:lpstr>
      <vt:lpstr>By Color Results: After Need Finding 1</vt:lpstr>
      <vt:lpstr>Need Finding 1 Colors: Statistical Analysis</vt:lpstr>
      <vt:lpstr>Overall Results: After Need Finding 2</vt:lpstr>
      <vt:lpstr>By Color Results: After Need Finding 2</vt:lpstr>
      <vt:lpstr>Need Finding 2 Colors: Statistical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Banerjee</dc:creator>
  <cp:lastModifiedBy>Anthony Mitchell</cp:lastModifiedBy>
  <cp:revision>150</cp:revision>
  <dcterms:created xsi:type="dcterms:W3CDTF">2025-08-20T00:04:56Z</dcterms:created>
  <dcterms:modified xsi:type="dcterms:W3CDTF">2025-11-05T02:53:42Z</dcterms:modified>
</cp:coreProperties>
</file>