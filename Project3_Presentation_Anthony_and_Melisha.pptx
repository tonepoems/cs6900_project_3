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474" r:id="rId2"/>
    <p:sldId id="454" r:id="rId3"/>
    <p:sldId id="467" r:id="rId4"/>
    <p:sldId id="463" r:id="rId5"/>
    <p:sldId id="469" r:id="rId6"/>
    <p:sldId id="470" r:id="rId7"/>
    <p:sldId id="471" r:id="rId8"/>
    <p:sldId id="460" r:id="rId9"/>
    <p:sldId id="468" r:id="rId10"/>
    <p:sldId id="472" r:id="rId11"/>
    <p:sldId id="473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030A0"/>
    <a:srgbClr val="82EEFD"/>
    <a:srgbClr val="E4E7ED"/>
    <a:srgbClr val="FFFF00"/>
    <a:srgbClr val="FFFFFF"/>
    <a:srgbClr val="FEBC02"/>
    <a:srgbClr val="04F994"/>
    <a:srgbClr val="5A3507"/>
    <a:srgbClr val="E04747"/>
    <a:srgbClr val="00B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6" autoAdjust="0"/>
    <p:restoredTop sz="94660"/>
  </p:normalViewPr>
  <p:slideViewPr>
    <p:cSldViewPr snapToGrid="0">
      <p:cViewPr varScale="1">
        <p:scale>
          <a:sx n="68" d="100"/>
          <a:sy n="68" d="100"/>
        </p:scale>
        <p:origin x="84" y="6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134FFAB-AD52-4E5B-B377-FE7628CA9CC5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BDAAC29-4D1F-4874-94AB-ADB4CDAFFF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38133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DAAC29-4D1F-4874-94AB-ADB4CDAFFF7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82945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DAAC29-4D1F-4874-94AB-ADB4CDAFFF7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0082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4C3813-05C2-8147-3492-F8B33266F9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7C2D12-21AD-0225-6084-AA65B90D25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3C93BD-3A5C-2B47-031D-BB263F3690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4A639-5BB1-4352-B4FE-9B40DAA4A556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EBE4AE-8097-807C-5918-2C77A8A8AA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C81843-6DDE-4CFF-2E43-A5CA1BB64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A4A8FA-0DF5-4C1C-807F-99A2E6619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3229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0714E8-5B3E-A6C4-1909-A6E8F5011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AC5D6E-F804-E000-B812-C48B8C28DF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6854FC-347C-9A59-04F5-D261A91DF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4A639-5BB1-4352-B4FE-9B40DAA4A556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E98423-9955-71C3-F81B-7196C6C00B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89DBD7-82DB-BD28-F553-0AA90EC39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A4A8FA-0DF5-4C1C-807F-99A2E6619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60679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298C11-FEB7-0D34-0165-A22FBF3E86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73B498-A010-B847-021B-399B45EF8E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04373A-1D32-B5B8-E208-459D82DAAE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4A639-5BB1-4352-B4FE-9B40DAA4A556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C440F7-5A3B-22A2-1791-9A7FC0B66B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E0E69D-772F-6422-3F7E-80F618CE8F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A4A8FA-0DF5-4C1C-807F-99A2E6619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77748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78AD7D-B0E1-5BE5-F713-E8CB60D85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4A54A1-F65C-B462-8362-BCFC9AFB068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809650E-42F2-3A72-FEBC-A49CF36C5B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425B949-DD36-FB22-197D-FCBEA8B2BF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4A639-5BB1-4352-B4FE-9B40DAA4A556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8874F7-5F22-CE6F-46E0-63EBB867A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78AD09-DBA3-8AED-48E2-D1E20D393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A4A8FA-0DF5-4C1C-807F-99A2E6619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45074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4FB569-9395-380F-C139-1DBFB96E00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A44D7B-577B-1556-F932-EDCA19F4B2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7CFB52-9F55-0FDC-39AF-BD601756B0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49CB11B-EEA0-A4CD-3317-C377858537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A65BC7-8A26-88EB-ADEE-AEE78887818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7D0B5D9-131F-CE73-4136-1B66F04ABD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4A639-5BB1-4352-B4FE-9B40DAA4A556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A1BE353-B575-86CE-2236-D26CD6D96A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61BB8F4-0CF9-1F2E-88B8-29D3CD0B1F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A4A8FA-0DF5-4C1C-807F-99A2E6619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88434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0D916C-0B8D-B4CC-B8D8-99FCE82230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EE4FBA8-186A-1878-E80D-1F2632169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4A639-5BB1-4352-B4FE-9B40DAA4A556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F880F1-08F3-327A-A375-4B0CAD2BB1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8789DE-77C5-517E-B9FC-C40C50061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A4A8FA-0DF5-4C1C-807F-99A2E6619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96021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4214CA4-E40A-C457-E604-D0B240C5E6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4A639-5BB1-4352-B4FE-9B40DAA4A556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B9EFDC4-1548-5223-1F9A-94AE98556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150087-7E9F-2635-A1A5-8C6E89CF4A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A4A8FA-0DF5-4C1C-807F-99A2E6619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86771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29F643-1D85-9289-18AA-503434E7F2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C8A6E0-88AD-0333-EBA5-83BE07B61A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77D870-219D-3DAA-402A-C448C4ABEC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A53C67-0FA9-4DE4-5C23-384F2E0087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4A639-5BB1-4352-B4FE-9B40DAA4A556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BAFA4C-2ABD-61D1-E8F7-B63FBB9256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16C3BD-C16B-5A10-7D17-8AA336BA9F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A4A8FA-0DF5-4C1C-807F-99A2E6619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36817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3D7B29-09D0-46B3-683E-61A2E7CEFE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A3D4D80-C043-B808-9FC0-0531DB21872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9FBDD73-5DA5-B834-9A4E-C721C4127C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A4267F-0146-0C6A-97DB-9D12BDD759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4A639-5BB1-4352-B4FE-9B40DAA4A556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6B69AA-6023-C9A5-EF0E-A7CE7AC66E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7AED23-C81B-5C8B-9E91-46ADD23657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A4A8FA-0DF5-4C1C-807F-99A2E6619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8673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04E335-4D12-6077-B30C-619BFE5EF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CD18FC-6A3A-9911-87C6-01BF0DCDC5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80F02A-E822-5B0A-1DA7-CB5AD920D2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4A639-5BB1-4352-B4FE-9B40DAA4A556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F30100-E2F2-EAAD-6C83-BBDB7F8C72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6E34E8-7CB3-2498-ECCF-EB99A2E751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A4A8FA-0DF5-4C1C-807F-99A2E6619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62661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98DA162-1F41-1F73-0178-91D74660E79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4485687-3B4C-ADB6-5BBD-885A464A15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5C3760-EF00-6FEA-CFB3-E2E990E975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4A639-5BB1-4352-B4FE-9B40DAA4A556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632EDD-2E17-B06F-ACFC-F19E013EDC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0C84DE-AA99-6F75-ADAD-09B7CAFC4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A4A8FA-0DF5-4C1C-807F-99A2E6619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91543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7C93AD-E944-A165-86BB-BF9F70397C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E2083A-2BF1-FCDC-B209-749ACBE511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AF5633-F23D-5BA0-EC7E-DF8827853C9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04A639-5BB1-4352-B4FE-9B40DAA4A556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725D6E-FB42-9BAB-DD53-8CCC8D65CFD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16565E-AF2C-E45B-4DDD-ED68404544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A4A8FA-0DF5-4C1C-807F-99A2E6619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95715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4B4329D-1054-AA88-F363-EA7D1FD7D4B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Mini Project 3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F9B88EEA-7B59-51F7-50E6-917CE1F4959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Anthony Mitchell &amp; Melisha Basnet</a:t>
            </a:r>
          </a:p>
        </p:txBody>
      </p:sp>
    </p:spTree>
    <p:extLst>
      <p:ext uri="{BB962C8B-B14F-4D97-AF65-F5344CB8AC3E}">
        <p14:creationId xmlns:p14="http://schemas.microsoft.com/office/powerpoint/2010/main" val="36137879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901E9B-89F4-C7C3-3944-433D463F2F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New Colors After Need Finding 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30A55D1-BB30-545B-6C09-AFCD1AE61519}"/>
              </a:ext>
            </a:extLst>
          </p:cNvPr>
          <p:cNvSpPr/>
          <p:nvPr/>
        </p:nvSpPr>
        <p:spPr>
          <a:xfrm>
            <a:off x="741060" y="2156867"/>
            <a:ext cx="1371600" cy="1371600"/>
          </a:xfrm>
          <a:prstGeom prst="rect">
            <a:avLst/>
          </a:prstGeom>
          <a:solidFill>
            <a:srgbClr val="ED1E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BAAE80-8DA0-5FBC-C9FD-95163740D31E}"/>
              </a:ext>
            </a:extLst>
          </p:cNvPr>
          <p:cNvSpPr/>
          <p:nvPr/>
        </p:nvSpPr>
        <p:spPr>
          <a:xfrm>
            <a:off x="2297440" y="2156867"/>
            <a:ext cx="1371600" cy="1371600"/>
          </a:xfrm>
          <a:prstGeom prst="rect">
            <a:avLst/>
          </a:prstGeom>
          <a:solidFill>
            <a:srgbClr val="D4681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F1F811F-F2AA-C69C-556F-716297F092BD}"/>
              </a:ext>
            </a:extLst>
          </p:cNvPr>
          <p:cNvSpPr/>
          <p:nvPr/>
        </p:nvSpPr>
        <p:spPr>
          <a:xfrm>
            <a:off x="3853820" y="2156867"/>
            <a:ext cx="1371600" cy="13716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4864106-7C42-BDE8-36AA-60F64E0A35E1}"/>
              </a:ext>
            </a:extLst>
          </p:cNvPr>
          <p:cNvSpPr/>
          <p:nvPr/>
        </p:nvSpPr>
        <p:spPr>
          <a:xfrm>
            <a:off x="5410200" y="2156867"/>
            <a:ext cx="1371600" cy="1371600"/>
          </a:xfrm>
          <a:prstGeom prst="rect">
            <a:avLst/>
          </a:prstGeom>
          <a:solidFill>
            <a:srgbClr val="FEBC0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D8288A8-0EFE-7D7F-1690-1EC28D6EE479}"/>
              </a:ext>
            </a:extLst>
          </p:cNvPr>
          <p:cNvSpPr/>
          <p:nvPr/>
        </p:nvSpPr>
        <p:spPr>
          <a:xfrm>
            <a:off x="6966580" y="2156867"/>
            <a:ext cx="1371600" cy="1371600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8A6FE12-A069-7B4A-36C6-7DDB7AA4311F}"/>
              </a:ext>
            </a:extLst>
          </p:cNvPr>
          <p:cNvSpPr/>
          <p:nvPr/>
        </p:nvSpPr>
        <p:spPr>
          <a:xfrm>
            <a:off x="8522960" y="2156867"/>
            <a:ext cx="1371600" cy="13716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2420F2D-7BC3-20C9-BDAC-B71BAFCDA17A}"/>
              </a:ext>
            </a:extLst>
          </p:cNvPr>
          <p:cNvSpPr/>
          <p:nvPr/>
        </p:nvSpPr>
        <p:spPr>
          <a:xfrm>
            <a:off x="10079340" y="2156867"/>
            <a:ext cx="1371600" cy="137160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F574E53B-B9D2-086E-72B7-33E3398E17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027547"/>
            <a:ext cx="10515600" cy="214941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Colors and hex values from left to right:</a:t>
            </a:r>
          </a:p>
          <a:p>
            <a:pPr marL="0" indent="0">
              <a:buNone/>
            </a:pPr>
            <a:r>
              <a:rPr lang="en-US" dirty="0"/>
              <a:t>Red (</a:t>
            </a:r>
            <a:r>
              <a:rPr lang="en-US" b="1" dirty="0"/>
              <a:t>ED1E24</a:t>
            </a:r>
            <a:r>
              <a:rPr lang="en-US" dirty="0"/>
              <a:t>), Brown (</a:t>
            </a:r>
            <a:r>
              <a:rPr lang="en-US" b="1" dirty="0"/>
              <a:t>D4681B</a:t>
            </a:r>
            <a:r>
              <a:rPr lang="en-US" dirty="0"/>
              <a:t>), Green (</a:t>
            </a:r>
            <a:r>
              <a:rPr lang="en-US" b="1" dirty="0"/>
              <a:t>92D050</a:t>
            </a:r>
            <a:r>
              <a:rPr lang="en-US" dirty="0"/>
              <a:t>), Orange (</a:t>
            </a:r>
            <a:r>
              <a:rPr lang="en-US" b="1" dirty="0"/>
              <a:t>FEBC02</a:t>
            </a:r>
            <a:r>
              <a:rPr lang="en-US" dirty="0"/>
              <a:t>), Yellow (</a:t>
            </a:r>
            <a:r>
              <a:rPr lang="en-US" b="1" dirty="0"/>
              <a:t>FFFF00</a:t>
            </a:r>
            <a:r>
              <a:rPr lang="en-US" dirty="0"/>
              <a:t>), Blue (</a:t>
            </a:r>
            <a:r>
              <a:rPr lang="en-US" b="1" dirty="0"/>
              <a:t>00B0F0</a:t>
            </a:r>
            <a:r>
              <a:rPr lang="en-US" dirty="0"/>
              <a:t>), Purple (</a:t>
            </a:r>
            <a:r>
              <a:rPr lang="en-US" b="1" dirty="0"/>
              <a:t>7030A0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6587949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901E9B-89F4-C7C3-3944-433D463F2F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New Colors After Need Finding 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30A55D1-BB30-545B-6C09-AFCD1AE61519}"/>
              </a:ext>
            </a:extLst>
          </p:cNvPr>
          <p:cNvSpPr/>
          <p:nvPr/>
        </p:nvSpPr>
        <p:spPr>
          <a:xfrm>
            <a:off x="741060" y="2156867"/>
            <a:ext cx="1371600" cy="1371600"/>
          </a:xfrm>
          <a:prstGeom prst="rect">
            <a:avLst/>
          </a:prstGeom>
          <a:solidFill>
            <a:srgbClr val="E0474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BAAE80-8DA0-5FBC-C9FD-95163740D31E}"/>
              </a:ext>
            </a:extLst>
          </p:cNvPr>
          <p:cNvSpPr/>
          <p:nvPr/>
        </p:nvSpPr>
        <p:spPr>
          <a:xfrm>
            <a:off x="2297440" y="2156867"/>
            <a:ext cx="1371600" cy="1371600"/>
          </a:xfrm>
          <a:prstGeom prst="rect">
            <a:avLst/>
          </a:prstGeom>
          <a:solidFill>
            <a:srgbClr val="5A350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F1F811F-F2AA-C69C-556F-716297F092BD}"/>
              </a:ext>
            </a:extLst>
          </p:cNvPr>
          <p:cNvSpPr/>
          <p:nvPr/>
        </p:nvSpPr>
        <p:spPr>
          <a:xfrm>
            <a:off x="3853820" y="2156867"/>
            <a:ext cx="1371600" cy="1371600"/>
          </a:xfrm>
          <a:prstGeom prst="rect">
            <a:avLst/>
          </a:prstGeom>
          <a:solidFill>
            <a:srgbClr val="04F99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4864106-7C42-BDE8-36AA-60F64E0A35E1}"/>
              </a:ext>
            </a:extLst>
          </p:cNvPr>
          <p:cNvSpPr/>
          <p:nvPr/>
        </p:nvSpPr>
        <p:spPr>
          <a:xfrm>
            <a:off x="5410200" y="2156867"/>
            <a:ext cx="1371600" cy="1371600"/>
          </a:xfrm>
          <a:prstGeom prst="rect">
            <a:avLst/>
          </a:prstGeom>
          <a:solidFill>
            <a:srgbClr val="FEBC0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D8288A8-0EFE-7D7F-1690-1EC28D6EE479}"/>
              </a:ext>
            </a:extLst>
          </p:cNvPr>
          <p:cNvSpPr/>
          <p:nvPr/>
        </p:nvSpPr>
        <p:spPr>
          <a:xfrm>
            <a:off x="6966580" y="2156867"/>
            <a:ext cx="1371600" cy="1371600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8A6FE12-A069-7B4A-36C6-7DDB7AA4311F}"/>
              </a:ext>
            </a:extLst>
          </p:cNvPr>
          <p:cNvSpPr/>
          <p:nvPr/>
        </p:nvSpPr>
        <p:spPr>
          <a:xfrm>
            <a:off x="8522960" y="2156867"/>
            <a:ext cx="1371600" cy="1371600"/>
          </a:xfrm>
          <a:prstGeom prst="rect">
            <a:avLst/>
          </a:prstGeom>
          <a:solidFill>
            <a:srgbClr val="82EEF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2420F2D-7BC3-20C9-BDAC-B71BAFCDA17A}"/>
              </a:ext>
            </a:extLst>
          </p:cNvPr>
          <p:cNvSpPr/>
          <p:nvPr/>
        </p:nvSpPr>
        <p:spPr>
          <a:xfrm>
            <a:off x="10079340" y="2156867"/>
            <a:ext cx="1371600" cy="137160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F574E53B-B9D2-086E-72B7-33E3398E17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027547"/>
            <a:ext cx="10515600" cy="214941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Colors and hex values from left to right:</a:t>
            </a:r>
          </a:p>
          <a:p>
            <a:pPr marL="0" indent="0">
              <a:buNone/>
            </a:pPr>
            <a:r>
              <a:rPr lang="en-US" dirty="0"/>
              <a:t>Red (</a:t>
            </a:r>
            <a:r>
              <a:rPr lang="en-US" b="1" dirty="0"/>
              <a:t>E04747</a:t>
            </a:r>
            <a:r>
              <a:rPr lang="en-US" dirty="0"/>
              <a:t>), Brown (</a:t>
            </a:r>
            <a:r>
              <a:rPr lang="en-US" b="1" dirty="0"/>
              <a:t>5A3507</a:t>
            </a:r>
            <a:r>
              <a:rPr lang="en-US" dirty="0"/>
              <a:t>), Green (</a:t>
            </a:r>
            <a:r>
              <a:rPr lang="en-US" b="1" dirty="0"/>
              <a:t>04F994</a:t>
            </a:r>
            <a:r>
              <a:rPr lang="en-US" dirty="0"/>
              <a:t>), Orange (</a:t>
            </a:r>
            <a:r>
              <a:rPr lang="en-US" b="1" dirty="0"/>
              <a:t>FEBC02</a:t>
            </a:r>
            <a:r>
              <a:rPr lang="en-US" dirty="0"/>
              <a:t>), Yellow (</a:t>
            </a:r>
            <a:r>
              <a:rPr lang="en-US" b="1" dirty="0"/>
              <a:t>FFFF00</a:t>
            </a:r>
            <a:r>
              <a:rPr lang="en-US" dirty="0"/>
              <a:t>), Blue (</a:t>
            </a:r>
            <a:r>
              <a:rPr lang="en-US" b="1" dirty="0"/>
              <a:t>82EEFD</a:t>
            </a:r>
            <a:r>
              <a:rPr lang="en-US" dirty="0"/>
              <a:t>), Purple (</a:t>
            </a:r>
            <a:r>
              <a:rPr lang="en-US" b="1" dirty="0"/>
              <a:t>7030A0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5705958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500C31-FAED-7A74-5510-113F1EB44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48DB77-3736-F7DB-195E-E52FAD54DA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Overall Results: After Need Finding 1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9845F24-AA7E-C27A-87FD-6AAD49AFBF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7256650"/>
              </p:ext>
            </p:extLst>
          </p:nvPr>
        </p:nvGraphicFramePr>
        <p:xfrm>
          <a:off x="1946592" y="1950720"/>
          <a:ext cx="8298816" cy="1478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092">
                  <a:extLst>
                    <a:ext uri="{9D8B030D-6E8A-4147-A177-3AD203B41FA5}">
                      <a16:colId xmlns:a16="http://schemas.microsoft.com/office/drawing/2014/main" val="1541460225"/>
                    </a:ext>
                  </a:extLst>
                </a:gridCol>
                <a:gridCol w="1140143">
                  <a:extLst>
                    <a:ext uri="{9D8B030D-6E8A-4147-A177-3AD203B41FA5}">
                      <a16:colId xmlns:a16="http://schemas.microsoft.com/office/drawing/2014/main" val="1812231523"/>
                    </a:ext>
                  </a:extLst>
                </a:gridCol>
                <a:gridCol w="3122168">
                  <a:extLst>
                    <a:ext uri="{9D8B030D-6E8A-4147-A177-3AD203B41FA5}">
                      <a16:colId xmlns:a16="http://schemas.microsoft.com/office/drawing/2014/main" val="1316578191"/>
                    </a:ext>
                  </a:extLst>
                </a:gridCol>
                <a:gridCol w="2665413">
                  <a:extLst>
                    <a:ext uri="{9D8B030D-6E8A-4147-A177-3AD203B41FA5}">
                      <a16:colId xmlns:a16="http://schemas.microsoft.com/office/drawing/2014/main" val="2816473777"/>
                    </a:ext>
                  </a:extLst>
                </a:gridCol>
              </a:tblGrid>
              <a:tr h="337430">
                <a:tc>
                  <a:txBody>
                    <a:bodyPr/>
                    <a:lstStyle/>
                    <a:p>
                      <a:r>
                        <a:rPr lang="en-US" dirty="0"/>
                        <a:t>Participant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Samples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Accuracy (Mean +/- Std Dev)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Time (Mean +/- Std Dev)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26517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0.557 +/- 0.499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1.41 +/- 0.38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5802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Natasha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0.993 +/- 0.085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1.14 +/- 0.28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106920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Ashutosh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0.424 +/- 0.502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3.86 +/- 3.30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288264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956BECF9-D12B-2BB4-FA82-4BE0D96D12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5248519"/>
              </p:ext>
            </p:extLst>
          </p:nvPr>
        </p:nvGraphicFramePr>
        <p:xfrm>
          <a:off x="1946592" y="4301868"/>
          <a:ext cx="8298816" cy="1478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092">
                  <a:extLst>
                    <a:ext uri="{9D8B030D-6E8A-4147-A177-3AD203B41FA5}">
                      <a16:colId xmlns:a16="http://schemas.microsoft.com/office/drawing/2014/main" val="1541460225"/>
                    </a:ext>
                  </a:extLst>
                </a:gridCol>
                <a:gridCol w="1140143">
                  <a:extLst>
                    <a:ext uri="{9D8B030D-6E8A-4147-A177-3AD203B41FA5}">
                      <a16:colId xmlns:a16="http://schemas.microsoft.com/office/drawing/2014/main" val="1812231523"/>
                    </a:ext>
                  </a:extLst>
                </a:gridCol>
                <a:gridCol w="3122168">
                  <a:extLst>
                    <a:ext uri="{9D8B030D-6E8A-4147-A177-3AD203B41FA5}">
                      <a16:colId xmlns:a16="http://schemas.microsoft.com/office/drawing/2014/main" val="1316578191"/>
                    </a:ext>
                  </a:extLst>
                </a:gridCol>
                <a:gridCol w="2665413">
                  <a:extLst>
                    <a:ext uri="{9D8B030D-6E8A-4147-A177-3AD203B41FA5}">
                      <a16:colId xmlns:a16="http://schemas.microsoft.com/office/drawing/2014/main" val="2816473777"/>
                    </a:ext>
                  </a:extLst>
                </a:gridCol>
              </a:tblGrid>
              <a:tr h="337430">
                <a:tc>
                  <a:txBody>
                    <a:bodyPr/>
                    <a:lstStyle/>
                    <a:p>
                      <a:r>
                        <a:rPr lang="en-US" dirty="0"/>
                        <a:t>Participant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Samples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Accuracy (Mean +/- Std Dev)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Time (Mean +/- Std Dev)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26517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0.750 +/- 0.435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1.66 +/- 1.47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5802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Natasha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0.993 +/- 0.085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1.26 +/- 0.74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106920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Ashutosh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0.743 +/- 0.443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4.44 +/- 3.70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288264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679C9F4-91FB-5D6A-FBF5-3FD9E1842EFD}"/>
              </a:ext>
            </a:extLst>
          </p:cNvPr>
          <p:cNvSpPr txBox="1"/>
          <p:nvPr/>
        </p:nvSpPr>
        <p:spPr>
          <a:xfrm>
            <a:off x="1946592" y="1506022"/>
            <a:ext cx="17581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Original Colors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6CE5716-C641-5AD5-3B48-E8BECCA991FC}"/>
              </a:ext>
            </a:extLst>
          </p:cNvPr>
          <p:cNvSpPr txBox="1"/>
          <p:nvPr/>
        </p:nvSpPr>
        <p:spPr>
          <a:xfrm>
            <a:off x="1946591" y="3864150"/>
            <a:ext cx="2471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Need Finding 1 Colors</a:t>
            </a:r>
          </a:p>
        </p:txBody>
      </p:sp>
    </p:spTree>
    <p:extLst>
      <p:ext uri="{BB962C8B-B14F-4D97-AF65-F5344CB8AC3E}">
        <p14:creationId xmlns:p14="http://schemas.microsoft.com/office/powerpoint/2010/main" val="34020022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500C31-FAED-7A74-5510-113F1EB44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48DB77-3736-F7DB-195E-E52FAD54DA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By Color Results: After Need Finding 1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9845F24-AA7E-C27A-87FD-6AAD49AFBF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5436101"/>
              </p:ext>
            </p:extLst>
          </p:nvPr>
        </p:nvGraphicFramePr>
        <p:xfrm>
          <a:off x="145668" y="2129355"/>
          <a:ext cx="11900663" cy="323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092">
                  <a:extLst>
                    <a:ext uri="{9D8B030D-6E8A-4147-A177-3AD203B41FA5}">
                      <a16:colId xmlns:a16="http://schemas.microsoft.com/office/drawing/2014/main" val="1541460225"/>
                    </a:ext>
                  </a:extLst>
                </a:gridCol>
                <a:gridCol w="1140143">
                  <a:extLst>
                    <a:ext uri="{9D8B030D-6E8A-4147-A177-3AD203B41FA5}">
                      <a16:colId xmlns:a16="http://schemas.microsoft.com/office/drawing/2014/main" val="1812231523"/>
                    </a:ext>
                  </a:extLst>
                </a:gridCol>
                <a:gridCol w="2111375">
                  <a:extLst>
                    <a:ext uri="{9D8B030D-6E8A-4147-A177-3AD203B41FA5}">
                      <a16:colId xmlns:a16="http://schemas.microsoft.com/office/drawing/2014/main" val="1316578191"/>
                    </a:ext>
                  </a:extLst>
                </a:gridCol>
                <a:gridCol w="2111375">
                  <a:extLst>
                    <a:ext uri="{9D8B030D-6E8A-4147-A177-3AD203B41FA5}">
                      <a16:colId xmlns:a16="http://schemas.microsoft.com/office/drawing/2014/main" val="2816473777"/>
                    </a:ext>
                  </a:extLst>
                </a:gridCol>
                <a:gridCol w="2811717">
                  <a:extLst>
                    <a:ext uri="{9D8B030D-6E8A-4147-A177-3AD203B41FA5}">
                      <a16:colId xmlns:a16="http://schemas.microsoft.com/office/drawing/2014/main" val="1622775679"/>
                    </a:ext>
                  </a:extLst>
                </a:gridCol>
                <a:gridCol w="2354961">
                  <a:extLst>
                    <a:ext uri="{9D8B030D-6E8A-4147-A177-3AD203B41FA5}">
                      <a16:colId xmlns:a16="http://schemas.microsoft.com/office/drawing/2014/main" val="487478817"/>
                    </a:ext>
                  </a:extLst>
                </a:gridCol>
              </a:tblGrid>
              <a:tr h="194104">
                <a:tc>
                  <a:txBody>
                    <a:bodyPr/>
                    <a:lstStyle/>
                    <a:p>
                      <a:r>
                        <a:rPr lang="en-US" dirty="0"/>
                        <a:t>Participant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Samples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Original Accuracy </a:t>
                      </a:r>
                      <a:br>
                        <a:rPr lang="en-US" dirty="0"/>
                      </a:br>
                      <a:r>
                        <a:rPr lang="en-US" dirty="0"/>
                        <a:t>(Mean +/- Std Dev)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Original Time </a:t>
                      </a:r>
                      <a:br>
                        <a:rPr lang="en-US" dirty="0"/>
                      </a:br>
                      <a:r>
                        <a:rPr lang="en-US" dirty="0"/>
                        <a:t>(Mean +/- Std Dev)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Need Finding 1 Accuracy </a:t>
                      </a:r>
                      <a:br>
                        <a:rPr lang="en-US" dirty="0"/>
                      </a:br>
                      <a:r>
                        <a:rPr lang="en-US" dirty="0"/>
                        <a:t>(Mean +/- Std Dev)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Need Finding 1 Time </a:t>
                      </a:r>
                      <a:br>
                        <a:rPr lang="en-US" dirty="0"/>
                      </a:br>
                      <a:r>
                        <a:rPr lang="en-US" dirty="0"/>
                        <a:t>(Mean +/- Std Dev)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26517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0.550 +/- 0.510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1.47 +/- 0.39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0.550 +/- 0.510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1.474 +/- 0.372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5802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Brown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0.350 +/- 0.489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1.38 +/- 0.39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0.550 +/- 0.510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1.486 +/- 0.321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106920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Green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0.650 +/- 0.489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1.41 +/- 0.45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0.550 +/- 0.510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1.725 +/- 0.695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2882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Orange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0.400 +/- 0.503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1.47 +/- 0.37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0.600 +/- 0.503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2.444 +/- 3.585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02706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Yellow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1.000 +/- 0.000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1.17 +/- 0.23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1.000 +/- 0.000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1.669 +/- 0.854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00543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0.550 +/- 0.510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1.45 +/- 0.19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1.000 +/- 0.000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1.388 +/- 0.655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78274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Purple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0.400 +/- 0.503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1.53 +/- 0.52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1.000 +/- 0.000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1.424 +/- 0.334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326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A6A9E36-1E3F-BD7F-1998-4BF786F2FF2E}"/>
              </a:ext>
            </a:extLst>
          </p:cNvPr>
          <p:cNvSpPr txBox="1"/>
          <p:nvPr/>
        </p:nvSpPr>
        <p:spPr>
          <a:xfrm>
            <a:off x="145668" y="1690688"/>
            <a:ext cx="7104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Sean</a:t>
            </a:r>
          </a:p>
        </p:txBody>
      </p:sp>
    </p:spTree>
    <p:extLst>
      <p:ext uri="{BB962C8B-B14F-4D97-AF65-F5344CB8AC3E}">
        <p14:creationId xmlns:p14="http://schemas.microsoft.com/office/powerpoint/2010/main" val="31322950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500C31-FAED-7A74-5510-113F1EB44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48DB77-3736-F7DB-195E-E52FAD54DA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By Color Results: After Need Finding 1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9845F24-AA7E-C27A-87FD-6AAD49AFBF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2332169"/>
              </p:ext>
            </p:extLst>
          </p:nvPr>
        </p:nvGraphicFramePr>
        <p:xfrm>
          <a:off x="145668" y="2129355"/>
          <a:ext cx="11900663" cy="323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092">
                  <a:extLst>
                    <a:ext uri="{9D8B030D-6E8A-4147-A177-3AD203B41FA5}">
                      <a16:colId xmlns:a16="http://schemas.microsoft.com/office/drawing/2014/main" val="1541460225"/>
                    </a:ext>
                  </a:extLst>
                </a:gridCol>
                <a:gridCol w="1140143">
                  <a:extLst>
                    <a:ext uri="{9D8B030D-6E8A-4147-A177-3AD203B41FA5}">
                      <a16:colId xmlns:a16="http://schemas.microsoft.com/office/drawing/2014/main" val="1812231523"/>
                    </a:ext>
                  </a:extLst>
                </a:gridCol>
                <a:gridCol w="2111375">
                  <a:extLst>
                    <a:ext uri="{9D8B030D-6E8A-4147-A177-3AD203B41FA5}">
                      <a16:colId xmlns:a16="http://schemas.microsoft.com/office/drawing/2014/main" val="1316578191"/>
                    </a:ext>
                  </a:extLst>
                </a:gridCol>
                <a:gridCol w="2111375">
                  <a:extLst>
                    <a:ext uri="{9D8B030D-6E8A-4147-A177-3AD203B41FA5}">
                      <a16:colId xmlns:a16="http://schemas.microsoft.com/office/drawing/2014/main" val="2816473777"/>
                    </a:ext>
                  </a:extLst>
                </a:gridCol>
                <a:gridCol w="2811717">
                  <a:extLst>
                    <a:ext uri="{9D8B030D-6E8A-4147-A177-3AD203B41FA5}">
                      <a16:colId xmlns:a16="http://schemas.microsoft.com/office/drawing/2014/main" val="1622775679"/>
                    </a:ext>
                  </a:extLst>
                </a:gridCol>
                <a:gridCol w="2354961">
                  <a:extLst>
                    <a:ext uri="{9D8B030D-6E8A-4147-A177-3AD203B41FA5}">
                      <a16:colId xmlns:a16="http://schemas.microsoft.com/office/drawing/2014/main" val="487478817"/>
                    </a:ext>
                  </a:extLst>
                </a:gridCol>
              </a:tblGrid>
              <a:tr h="194104">
                <a:tc>
                  <a:txBody>
                    <a:bodyPr/>
                    <a:lstStyle/>
                    <a:p>
                      <a:r>
                        <a:rPr lang="en-US" dirty="0"/>
                        <a:t>Participant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Samples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Original Accuracy </a:t>
                      </a:r>
                      <a:br>
                        <a:rPr lang="en-US" dirty="0"/>
                      </a:br>
                      <a:r>
                        <a:rPr lang="en-US" dirty="0"/>
                        <a:t>(Mean +/- Std Dev)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Original Time </a:t>
                      </a:r>
                      <a:br>
                        <a:rPr lang="en-US" dirty="0"/>
                      </a:br>
                      <a:r>
                        <a:rPr lang="en-US" dirty="0"/>
                        <a:t>(Mean +/- Std Dev)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Need Finding 1 Accuracy </a:t>
                      </a:r>
                      <a:br>
                        <a:rPr lang="en-US" dirty="0"/>
                      </a:br>
                      <a:r>
                        <a:rPr lang="en-US" dirty="0"/>
                        <a:t>(Mean +/- Std Dev)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Need Finding 1 Time </a:t>
                      </a:r>
                      <a:br>
                        <a:rPr lang="en-US" dirty="0"/>
                      </a:br>
                      <a:r>
                        <a:rPr lang="en-US" dirty="0"/>
                        <a:t>(Mean +/- Std Dev)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26517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1.000 +/- 0.000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1.20 +/- 0.64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1.000 +/- 0.000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1.227 +/- 0.587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5802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Brown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0.950 +/- 0.224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1.16 +/- 0.15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1.000 +/- 0.000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1.155 +/- 0.201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106920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Green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1.000 +/- 0.000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1.18 +/- 0.17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1.000 +/- 0.000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1.226 +/- 0.400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2882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Orange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1.000 +/- 0.000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1.14 +/- 0.17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0.950 +/- 0.224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1.321 +/- 0.303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02706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Yellow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1.000 +/- 0.000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1.05 +/- 0.13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1.000 +/- 0.000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1.187 +/- 0.258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0767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1.000 +/- 0.000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1.12 +/- 0.18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1.000 +/- 0.000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1.521 +/- 1.759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78274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Purple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1.000 +/- 0.000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1.15 +/- 0.18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1.000 +/- 0.000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1.190 +/- 0.236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326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A6A9E36-1E3F-BD7F-1998-4BF786F2FF2E}"/>
              </a:ext>
            </a:extLst>
          </p:cNvPr>
          <p:cNvSpPr txBox="1"/>
          <p:nvPr/>
        </p:nvSpPr>
        <p:spPr>
          <a:xfrm>
            <a:off x="145668" y="1690688"/>
            <a:ext cx="10629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Natasha</a:t>
            </a:r>
          </a:p>
        </p:txBody>
      </p:sp>
    </p:spTree>
    <p:extLst>
      <p:ext uri="{BB962C8B-B14F-4D97-AF65-F5344CB8AC3E}">
        <p14:creationId xmlns:p14="http://schemas.microsoft.com/office/powerpoint/2010/main" val="13350123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500C31-FAED-7A74-5510-113F1EB44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48DB77-3736-F7DB-195E-E52FAD54DA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By Color Results: After Need Finding 1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9845F24-AA7E-C27A-87FD-6AAD49AFBF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6292506"/>
              </p:ext>
            </p:extLst>
          </p:nvPr>
        </p:nvGraphicFramePr>
        <p:xfrm>
          <a:off x="145668" y="2129355"/>
          <a:ext cx="11900663" cy="323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092">
                  <a:extLst>
                    <a:ext uri="{9D8B030D-6E8A-4147-A177-3AD203B41FA5}">
                      <a16:colId xmlns:a16="http://schemas.microsoft.com/office/drawing/2014/main" val="1541460225"/>
                    </a:ext>
                  </a:extLst>
                </a:gridCol>
                <a:gridCol w="1140143">
                  <a:extLst>
                    <a:ext uri="{9D8B030D-6E8A-4147-A177-3AD203B41FA5}">
                      <a16:colId xmlns:a16="http://schemas.microsoft.com/office/drawing/2014/main" val="1812231523"/>
                    </a:ext>
                  </a:extLst>
                </a:gridCol>
                <a:gridCol w="2111375">
                  <a:extLst>
                    <a:ext uri="{9D8B030D-6E8A-4147-A177-3AD203B41FA5}">
                      <a16:colId xmlns:a16="http://schemas.microsoft.com/office/drawing/2014/main" val="1316578191"/>
                    </a:ext>
                  </a:extLst>
                </a:gridCol>
                <a:gridCol w="2111375">
                  <a:extLst>
                    <a:ext uri="{9D8B030D-6E8A-4147-A177-3AD203B41FA5}">
                      <a16:colId xmlns:a16="http://schemas.microsoft.com/office/drawing/2014/main" val="2816473777"/>
                    </a:ext>
                  </a:extLst>
                </a:gridCol>
                <a:gridCol w="2811717">
                  <a:extLst>
                    <a:ext uri="{9D8B030D-6E8A-4147-A177-3AD203B41FA5}">
                      <a16:colId xmlns:a16="http://schemas.microsoft.com/office/drawing/2014/main" val="1622775679"/>
                    </a:ext>
                  </a:extLst>
                </a:gridCol>
                <a:gridCol w="2354961">
                  <a:extLst>
                    <a:ext uri="{9D8B030D-6E8A-4147-A177-3AD203B41FA5}">
                      <a16:colId xmlns:a16="http://schemas.microsoft.com/office/drawing/2014/main" val="487478817"/>
                    </a:ext>
                  </a:extLst>
                </a:gridCol>
              </a:tblGrid>
              <a:tr h="194104">
                <a:tc>
                  <a:txBody>
                    <a:bodyPr/>
                    <a:lstStyle/>
                    <a:p>
                      <a:r>
                        <a:rPr lang="en-US" dirty="0"/>
                        <a:t>Participant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Samples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Original Accuracy </a:t>
                      </a:r>
                      <a:br>
                        <a:rPr lang="en-US" dirty="0"/>
                      </a:br>
                      <a:r>
                        <a:rPr lang="en-US" dirty="0"/>
                        <a:t>(Mean +/- Std Dev)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Original Time </a:t>
                      </a:r>
                      <a:br>
                        <a:rPr lang="en-US" dirty="0"/>
                      </a:br>
                      <a:r>
                        <a:rPr lang="en-US" dirty="0"/>
                        <a:t>(Mean +/- Std Dev)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Need Finding 1 Accuracy </a:t>
                      </a:r>
                      <a:br>
                        <a:rPr lang="en-US" dirty="0"/>
                      </a:br>
                      <a:r>
                        <a:rPr lang="en-US" dirty="0"/>
                        <a:t>(Mean +/- Std Dev)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Need Finding 1 Time </a:t>
                      </a:r>
                      <a:br>
                        <a:rPr lang="en-US" dirty="0"/>
                      </a:br>
                      <a:r>
                        <a:rPr lang="en-US" dirty="0"/>
                        <a:t>(Mean +/- Std Dev)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26517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0.250 +/- 0.463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3.47 +/- 2.27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1.000 +/- 0.000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 2.279 +/- 0.804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5802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Brown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0.000 +/- 0.000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11.39 +/- 6.26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0.750 +/- 0.500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9.124 +/- 4.600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106920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Green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1.000 +/- 0.000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3.23 +/- 2.34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1.000 +/- 0.000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2.435 +/- 0.666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2882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Orange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0.500 +/- 0.577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3.88 +/- 2.07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0.000 +/- 0.000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 4.748 +/- 3.704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02706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Yellow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1.000 +/- 0.000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2.39 +/- 0.68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0.833 +/- 0.408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3.064 +/- 1.310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09655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0.000 +/- 0.000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2.76 +/- 0.66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1.000 +/- 0.000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8.260 +/- 5.600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78274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Purple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0.000 +/- 0.000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2.92 +/- 1.68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1.000 +/- 0.000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2.563 +/- 0.543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326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A6A9E36-1E3F-BD7F-1998-4BF786F2FF2E}"/>
              </a:ext>
            </a:extLst>
          </p:cNvPr>
          <p:cNvSpPr txBox="1"/>
          <p:nvPr/>
        </p:nvSpPr>
        <p:spPr>
          <a:xfrm>
            <a:off x="145668" y="1690688"/>
            <a:ext cx="11815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Ashutosh</a:t>
            </a:r>
          </a:p>
        </p:txBody>
      </p:sp>
    </p:spTree>
    <p:extLst>
      <p:ext uri="{BB962C8B-B14F-4D97-AF65-F5344CB8AC3E}">
        <p14:creationId xmlns:p14="http://schemas.microsoft.com/office/powerpoint/2010/main" val="37915569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E221E6-F095-FD15-D086-00D2CBE7E4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966D0A-7A0E-4EF3-E806-F881778292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Need Finding 1 Colors: Statistical Analysis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72255A-AB62-1302-96D4-D4AECDF2C4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Perform Only For Overall Results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Test Used: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Hypothesis Tested: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Reject or Fail to Reject Null Hypothesis: </a:t>
            </a:r>
          </a:p>
        </p:txBody>
      </p:sp>
    </p:spTree>
    <p:extLst>
      <p:ext uri="{BB962C8B-B14F-4D97-AF65-F5344CB8AC3E}">
        <p14:creationId xmlns:p14="http://schemas.microsoft.com/office/powerpoint/2010/main" val="32255987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500C31-FAED-7A74-5510-113F1EB44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48DB77-3736-F7DB-195E-E52FAD54DA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Overall Results: After Need Finding 2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9845F24-AA7E-C27A-87FD-6AAD49AFBF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7199347"/>
              </p:ext>
            </p:extLst>
          </p:nvPr>
        </p:nvGraphicFramePr>
        <p:xfrm>
          <a:off x="1946592" y="1950720"/>
          <a:ext cx="8298816" cy="73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092">
                  <a:extLst>
                    <a:ext uri="{9D8B030D-6E8A-4147-A177-3AD203B41FA5}">
                      <a16:colId xmlns:a16="http://schemas.microsoft.com/office/drawing/2014/main" val="1541460225"/>
                    </a:ext>
                  </a:extLst>
                </a:gridCol>
                <a:gridCol w="1140143">
                  <a:extLst>
                    <a:ext uri="{9D8B030D-6E8A-4147-A177-3AD203B41FA5}">
                      <a16:colId xmlns:a16="http://schemas.microsoft.com/office/drawing/2014/main" val="1812231523"/>
                    </a:ext>
                  </a:extLst>
                </a:gridCol>
                <a:gridCol w="3122168">
                  <a:extLst>
                    <a:ext uri="{9D8B030D-6E8A-4147-A177-3AD203B41FA5}">
                      <a16:colId xmlns:a16="http://schemas.microsoft.com/office/drawing/2014/main" val="1316578191"/>
                    </a:ext>
                  </a:extLst>
                </a:gridCol>
                <a:gridCol w="2665413">
                  <a:extLst>
                    <a:ext uri="{9D8B030D-6E8A-4147-A177-3AD203B41FA5}">
                      <a16:colId xmlns:a16="http://schemas.microsoft.com/office/drawing/2014/main" val="2816473777"/>
                    </a:ext>
                  </a:extLst>
                </a:gridCol>
              </a:tblGrid>
              <a:tr h="337430">
                <a:tc>
                  <a:txBody>
                    <a:bodyPr/>
                    <a:lstStyle/>
                    <a:p>
                      <a:r>
                        <a:rPr lang="en-US" dirty="0"/>
                        <a:t>Participant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Samples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Accuracy (Mean +/- Std Dev)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Time (Mean +/- Std Dev)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26517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5802110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956BECF9-D12B-2BB4-FA82-4BE0D96D12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4668535"/>
              </p:ext>
            </p:extLst>
          </p:nvPr>
        </p:nvGraphicFramePr>
        <p:xfrm>
          <a:off x="1946592" y="4301868"/>
          <a:ext cx="8298816" cy="73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092">
                  <a:extLst>
                    <a:ext uri="{9D8B030D-6E8A-4147-A177-3AD203B41FA5}">
                      <a16:colId xmlns:a16="http://schemas.microsoft.com/office/drawing/2014/main" val="1541460225"/>
                    </a:ext>
                  </a:extLst>
                </a:gridCol>
                <a:gridCol w="1140143">
                  <a:extLst>
                    <a:ext uri="{9D8B030D-6E8A-4147-A177-3AD203B41FA5}">
                      <a16:colId xmlns:a16="http://schemas.microsoft.com/office/drawing/2014/main" val="1812231523"/>
                    </a:ext>
                  </a:extLst>
                </a:gridCol>
                <a:gridCol w="3122168">
                  <a:extLst>
                    <a:ext uri="{9D8B030D-6E8A-4147-A177-3AD203B41FA5}">
                      <a16:colId xmlns:a16="http://schemas.microsoft.com/office/drawing/2014/main" val="1316578191"/>
                    </a:ext>
                  </a:extLst>
                </a:gridCol>
                <a:gridCol w="2665413">
                  <a:extLst>
                    <a:ext uri="{9D8B030D-6E8A-4147-A177-3AD203B41FA5}">
                      <a16:colId xmlns:a16="http://schemas.microsoft.com/office/drawing/2014/main" val="2816473777"/>
                    </a:ext>
                  </a:extLst>
                </a:gridCol>
              </a:tblGrid>
              <a:tr h="337430">
                <a:tc>
                  <a:txBody>
                    <a:bodyPr/>
                    <a:lstStyle/>
                    <a:p>
                      <a:r>
                        <a:rPr lang="en-US" dirty="0"/>
                        <a:t>Participant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Samples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Accuracy (Mean +/- Std Dev)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Time (Mean +/- Std Dev)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26517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5802110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679C9F4-91FB-5D6A-FBF5-3FD9E1842EFD}"/>
              </a:ext>
            </a:extLst>
          </p:cNvPr>
          <p:cNvSpPr txBox="1"/>
          <p:nvPr/>
        </p:nvSpPr>
        <p:spPr>
          <a:xfrm>
            <a:off x="1946592" y="1506022"/>
            <a:ext cx="2471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Need Finding 1 Colors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6CE5716-C641-5AD5-3B48-E8BECCA991FC}"/>
              </a:ext>
            </a:extLst>
          </p:cNvPr>
          <p:cNvSpPr txBox="1"/>
          <p:nvPr/>
        </p:nvSpPr>
        <p:spPr>
          <a:xfrm>
            <a:off x="1946591" y="3864150"/>
            <a:ext cx="2471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Need Finding 2 Colors</a:t>
            </a:r>
          </a:p>
        </p:txBody>
      </p:sp>
    </p:spTree>
    <p:extLst>
      <p:ext uri="{BB962C8B-B14F-4D97-AF65-F5344CB8AC3E}">
        <p14:creationId xmlns:p14="http://schemas.microsoft.com/office/powerpoint/2010/main" val="13388073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500C31-FAED-7A74-5510-113F1EB44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48DB77-3736-F7DB-195E-E52FAD54DA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By Color Results: After Need Finding 2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9845F24-AA7E-C27A-87FD-6AAD49AFBF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2374473"/>
              </p:ext>
            </p:extLst>
          </p:nvPr>
        </p:nvGraphicFramePr>
        <p:xfrm>
          <a:off x="145668" y="2129355"/>
          <a:ext cx="11900663" cy="351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092">
                  <a:extLst>
                    <a:ext uri="{9D8B030D-6E8A-4147-A177-3AD203B41FA5}">
                      <a16:colId xmlns:a16="http://schemas.microsoft.com/office/drawing/2014/main" val="1541460225"/>
                    </a:ext>
                  </a:extLst>
                </a:gridCol>
                <a:gridCol w="1140143">
                  <a:extLst>
                    <a:ext uri="{9D8B030D-6E8A-4147-A177-3AD203B41FA5}">
                      <a16:colId xmlns:a16="http://schemas.microsoft.com/office/drawing/2014/main" val="1812231523"/>
                    </a:ext>
                  </a:extLst>
                </a:gridCol>
                <a:gridCol w="2111375">
                  <a:extLst>
                    <a:ext uri="{9D8B030D-6E8A-4147-A177-3AD203B41FA5}">
                      <a16:colId xmlns:a16="http://schemas.microsoft.com/office/drawing/2014/main" val="1316578191"/>
                    </a:ext>
                  </a:extLst>
                </a:gridCol>
                <a:gridCol w="2111375">
                  <a:extLst>
                    <a:ext uri="{9D8B030D-6E8A-4147-A177-3AD203B41FA5}">
                      <a16:colId xmlns:a16="http://schemas.microsoft.com/office/drawing/2014/main" val="2816473777"/>
                    </a:ext>
                  </a:extLst>
                </a:gridCol>
                <a:gridCol w="2811717">
                  <a:extLst>
                    <a:ext uri="{9D8B030D-6E8A-4147-A177-3AD203B41FA5}">
                      <a16:colId xmlns:a16="http://schemas.microsoft.com/office/drawing/2014/main" val="1622775679"/>
                    </a:ext>
                  </a:extLst>
                </a:gridCol>
                <a:gridCol w="2354961">
                  <a:extLst>
                    <a:ext uri="{9D8B030D-6E8A-4147-A177-3AD203B41FA5}">
                      <a16:colId xmlns:a16="http://schemas.microsoft.com/office/drawing/2014/main" val="487478817"/>
                    </a:ext>
                  </a:extLst>
                </a:gridCol>
              </a:tblGrid>
              <a:tr h="194104">
                <a:tc>
                  <a:txBody>
                    <a:bodyPr/>
                    <a:lstStyle/>
                    <a:p>
                      <a:r>
                        <a:rPr lang="en-US" dirty="0"/>
                        <a:t>Participant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Samples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Need Finding 1 Accuracy </a:t>
                      </a:r>
                      <a:br>
                        <a:rPr lang="en-US" dirty="0"/>
                      </a:br>
                      <a:r>
                        <a:rPr lang="en-US" dirty="0"/>
                        <a:t>(Mean +/- Std Dev)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Need Finding 1 Time </a:t>
                      </a:r>
                      <a:br>
                        <a:rPr lang="en-US" dirty="0"/>
                      </a:br>
                      <a:r>
                        <a:rPr lang="en-US" dirty="0"/>
                        <a:t>(Mean +/- Std Dev)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Need Finding 2 Accuracy </a:t>
                      </a:r>
                      <a:br>
                        <a:rPr lang="en-US" dirty="0"/>
                      </a:br>
                      <a:r>
                        <a:rPr lang="en-US" dirty="0"/>
                        <a:t>(Mean +/- Std Dev)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Need Finding 2 Time </a:t>
                      </a:r>
                      <a:br>
                        <a:rPr lang="en-US" dirty="0"/>
                      </a:br>
                      <a:r>
                        <a:rPr lang="en-US" dirty="0"/>
                        <a:t>(Mean +/- Std Dev)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26517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5802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Brown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106920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Green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2882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Orange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02706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Yellow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37735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78274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Purple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326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A6A9E36-1E3F-BD7F-1998-4BF786F2FF2E}"/>
              </a:ext>
            </a:extLst>
          </p:cNvPr>
          <p:cNvSpPr txBox="1"/>
          <p:nvPr/>
        </p:nvSpPr>
        <p:spPr>
          <a:xfrm>
            <a:off x="145668" y="1690688"/>
            <a:ext cx="7104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Sean</a:t>
            </a:r>
          </a:p>
        </p:txBody>
      </p:sp>
    </p:spTree>
    <p:extLst>
      <p:ext uri="{BB962C8B-B14F-4D97-AF65-F5344CB8AC3E}">
        <p14:creationId xmlns:p14="http://schemas.microsoft.com/office/powerpoint/2010/main" val="4492474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E221E6-F095-FD15-D086-00D2CBE7E4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966D0A-7A0E-4EF3-E806-F881778292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Need Finding 2 Colors: Statistical Analysis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72255A-AB62-1302-96D4-D4AECDF2C4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Perform Only For Overall Results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Test Used: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Hypothesis Tested: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Reject or Fail to Reject Null Hypothesis: 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39168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533</TotalTime>
  <Words>801</Words>
  <Application>Microsoft Office PowerPoint</Application>
  <PresentationFormat>Widescreen</PresentationFormat>
  <Paragraphs>239</Paragraphs>
  <Slides>11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Mini Project 3</vt:lpstr>
      <vt:lpstr>New Colors After Need Finding 1</vt:lpstr>
      <vt:lpstr>New Colors After Need Finding 2</vt:lpstr>
      <vt:lpstr>Overall Results: After Need Finding 1</vt:lpstr>
      <vt:lpstr>By Color Results: After Need Finding 1</vt:lpstr>
      <vt:lpstr>By Color Results: After Need Finding 1</vt:lpstr>
      <vt:lpstr>By Color Results: After Need Finding 1</vt:lpstr>
      <vt:lpstr>Need Finding 1 Colors: Statistical Analysis</vt:lpstr>
      <vt:lpstr>Overall Results: After Need Finding 2</vt:lpstr>
      <vt:lpstr>By Color Results: After Need Finding 2</vt:lpstr>
      <vt:lpstr>Need Finding 2 Colors: Statistical Analysis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Sean Banerjee</dc:creator>
  <cp:lastModifiedBy>Anthony Mitchell</cp:lastModifiedBy>
  <cp:revision>141</cp:revision>
  <dcterms:created xsi:type="dcterms:W3CDTF">2025-08-20T00:04:56Z</dcterms:created>
  <dcterms:modified xsi:type="dcterms:W3CDTF">2025-11-05T02:38:35Z</dcterms:modified>
</cp:coreProperties>
</file>